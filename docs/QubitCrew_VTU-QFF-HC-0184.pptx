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3.png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7" Type="http://schemas.openxmlformats.org/officeDocument/2006/relationships/image" Target="../media/image6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Relationship Id="rId10" Type="http://schemas.openxmlformats.org/officeDocument/2006/relationships/image" Target="../media/tl_nodd.png"/><Relationship Id="rId11" Type="http://schemas.openxmlformats.org/officeDocument/2006/relationships/image" Target="../media/tl_stag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3.xml" /><Relationship Id="rId10" Type="http://schemas.openxmlformats.org/officeDocument/2006/relationships/image" Target="../media/results_chart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3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3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Integrated Dynamical Decoupling &amp; Error Mitigation Pipeline for NISQ Workflows</a:t>
            </a:r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DD + Error Mitigation Pipeline</a:t>
            </a:r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QubitCrew  ·  VTU-QFF-HC-0184</a:t>
            </a:r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9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Prisha Bharti</a:t>
            </a:r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CONTACT</a:t>
            </a:r>
            <a:endParaRPr lang="en-US" sz="9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[add team lead email]</a:t>
            </a:r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Aarti Singla  ·  Angel Garg</a:t>
            </a:r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ORGANISATION</a:t>
            </a:r>
            <a:endParaRPr lang="en-US" sz="9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[add college name]</a:t>
            </a:r>
          </a:p>
        </p:txBody>
      </p:sp>
      <p:sp>
        <p:nvSpPr>
          <p:cNvPr id="17" name="Field: COUNTRY"/>
          <p:cNvSpPr/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Body text"/>
          <p:cNvSpPr txBox="1"/>
          <p:nvPr/>
        </p:nvSpPr>
        <p:spPr>
          <a:xfrm>
            <a:off x="731520" y="1874520"/>
            <a:ext cx="7772400" cy="265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Track: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Integrated Dynamical Decoupling and Error Mitigation Pipeline for NISQ Workflows.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problem: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on today’s noisy devices, qubits sit idle while others run gates. Idle qubits dephase and pick up coherent ZZ crosstalk from their neighbours, so fidelity collapses long before the algorithm finishes.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gap: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dynamical decoupling (DD) and error mitigation (ZNE, readout) are usually applied separately and by hand, with one fixed pulse sequence that ignores what kind of idle window it is protecting.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Our goal: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one automated, hardware-aware pipeline: schedule the circuit, find and classify idle windows, choose and place DD, layer mitigation on top, and benchmark against Qiskit’s own DD and IBM Runtime.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Deliverable: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an open-source Python package (ddpipe), a drop-in Qiskit transpiler pass and a Streamlit app, validated on real IBM Heron r2 hardware.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Body text"/>
          <p:cNvSpPr txBox="1"/>
          <p:nvPr/>
        </p:nvSpPr>
        <p:spPr>
          <a:xfrm>
            <a:off x="731520" y="1874520"/>
            <a:ext cx="7772400" cy="265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Objectives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3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Detect idle windows directly from a scheduled circuit and label each as idle-idle or crosstalk-idle.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3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Insert DD trains that compose to the identity and fit inside each window (XY4, uniform or staggered).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3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Combine DD with ZNE (CX folding) and readout-error mitigation in one pipeline.</a:t>
            </a:r>
          </a:p>
          <a:p>
            <a:pPr marL="171450" indent="-171450">
              <a:spcAft>
                <a:spcPts val="5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3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Benchmark fairly against Qiskit PadDynamicalDecoupling and IBM Runtime DD, in simulation and on hardware.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Novelty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3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Staggered DD: </a:t>
            </a:r>
            <a:r>
              <a:rPr lang="en-US" sz="13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pulse timing is offset between coupled neighbours so their ZZ interaction does not accumulate.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3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Auto mode: </a:t>
            </a:r>
            <a:r>
              <a:rPr lang="en-US" sz="13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chooses pulse family and spacing per window by minimising a ZZ-frame cost, with “no DD” always a candidate.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3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IdleAwareDD: </a:t>
            </a:r>
            <a:r>
              <a:rPr lang="en-US" sz="13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all of it packaged as a standard Qiskit transpiler pass, one line in a PassManager.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8" name="Body text"/>
          <p:cNvSpPr txBox="1"/>
          <p:nvPr/>
        </p:nvSpPr>
        <p:spPr>
          <a:xfrm>
            <a:off x="731520" y="1874520"/>
            <a:ext cx="7772400" cy="265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>
              <a:spcAft>
                <a:spcPts val="5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Pipeline: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 Schedule (ALAP, real gate durations)  →  2 Analyse idle windows  →  3 Protect with DD  →  4 Mitigate (ZNE + readout)  →  5 Benchmark.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Where the benefit comes from: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long synchronous idle periods, e.g. spectator qubits waiting while a GHZ chain runs, and larger circuits such as a 6-qubit QAOA ring.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Hardware (spectator test):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mean idle-qubit ⟨X⟩ rises from −0.05 (no DD) to 0.78 with staggered DD on ibm_fez, and from 0.28 to 0.82 on ibm_kingston (ideal = 1).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Simulation: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auto-DD cuts mean infidelity from 0.281 to 0.129, a 54% reduction; Qiskit’s DD reaches 0.142.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What “advantage” means here: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we do not claim a computational speed-up. The advantage is fidelity: keeping idle-heavy circuits usable on today’s noisy devices, at no extra qubits.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20" name="Schedule without DD" descr="GHZ-wait-4 schedule without DD: long idle window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1652626"/>
            <a:ext cx="4754880" cy="1521561"/>
          </a:xfrm>
          <a:prstGeom prst="rect">
            <a:avLst/>
          </a:prstGeom>
        </p:spPr>
      </p:pic>
      <p:pic>
        <p:nvPicPr>
          <p:cNvPr id="21" name="Schedule with staggered DD" descr="GHZ-wait-4 schedule with staggered DD pulses in every idle window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3135173"/>
            <a:ext cx="4754880" cy="1521561"/>
          </a:xfrm>
          <a:prstGeom prst="rect">
            <a:avLst/>
          </a:prstGeom>
        </p:spPr>
      </p:pic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0" name="Key details"/>
          <p:cNvSpPr txBox="1"/>
          <p:nvPr/>
        </p:nvSpPr>
        <p:spPr>
          <a:xfrm>
            <a:off x="5760720" y="1830000"/>
            <a:ext cx="279000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>
              <a:spcAft>
                <a:spcPts val="25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15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Circuits: </a:t>
            </a:r>
            <a:r>
              <a:rPr lang="en-US" sz="115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GHZ-wait-4, QAOA-ring-6, VQE-TFIM-4.</a:t>
            </a:r>
          </a:p>
          <a:p>
            <a:pPr marL="171450" indent="-171450">
              <a:spcAft>
                <a:spcPts val="25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15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Schedule: </a:t>
            </a:r>
            <a:r>
              <a:rPr lang="en-US" sz="115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transpile, ALAP schedule, PadDelay.</a:t>
            </a:r>
          </a:p>
          <a:p>
            <a:pPr marL="171450" indent="-171450">
              <a:spcAft>
                <a:spcPts val="25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15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IdleAwareDD pass: </a:t>
            </a:r>
            <a:r>
              <a:rPr lang="en-US" sz="115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XY4, τ = 600 ns, windows ≥ 250 ns, ≤ 16 pulses, uniform or staggered.</a:t>
            </a:r>
          </a:p>
          <a:p>
            <a:pPr marL="171450" indent="-171450">
              <a:spcAft>
                <a:spcPts val="25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15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Mitigation: </a:t>
            </a:r>
            <a:r>
              <a:rPr lang="en-US" sz="115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ZNE by CX folding (G G† G, scales 1, 2, 3) plus readout correction.</a:t>
            </a:r>
          </a:p>
          <a:p>
            <a:pPr marL="171450" indent="-171450">
              <a:spcAft>
                <a:spcPts val="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15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Figure: </a:t>
            </a:r>
            <a:r>
              <a:rPr lang="en-US" sz="115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red = DD pulse, yellow = idle-idle window, pink = crosstalk-idle window. Top: before DD. Bottom: staggered DD.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Body text"/>
          <p:cNvSpPr txBox="1"/>
          <p:nvPr/>
        </p:nvSpPr>
        <p:spPr>
          <a:xfrm>
            <a:off x="731520" y="1874520"/>
            <a:ext cx="7772400" cy="265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Core: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Python, Qiskit ≥ 2.1 (circuits, PassManager, ALAPScheduleAnalysis, PadDelay, custom TransformationPass), NumPy, SciPy, pandas, Matplotlib, Plotly.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Simulation: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Qiskit Aer and an exact density-matrix model with drift, ZZ crosstalk and imperfect pulses.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Hardware: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qiskit-ibm-runtime EstimatorV2 on IBM Heron r2 devices: ibm_fez, ibm_kingston, ibm_marrakesh (Open Plan).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Package ddpipe: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scheduler, idle-window analyser, DD injector, mitigation (ZNE, readout) and passes.py with IdleAwareDD.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Interface: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Streamlit app with four tabs: schedule explorer, live benchmark, hardware evidence, about.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Quality: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37 pytest tests (including that every DD train composes to the identity), committed results, scripts to reproduce every hardware run.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20" name="Hardware results chart" descr="Grouped bar chart: mean idle-qubit X expectation on ibm_fez and ibm_kingston for No DD, Qiskit PadDD, IBM Runtime DD, our uniform DD and our staggered D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8450" y="1751640"/>
            <a:ext cx="4735260" cy="2806080"/>
          </a:xfrm>
          <a:prstGeom prst="rect">
            <a:avLst/>
          </a:prstGeom>
        </p:spPr>
      </p:pic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0" name="Key details"/>
          <p:cNvSpPr txBox="1"/>
          <p:nvPr/>
        </p:nvSpPr>
        <p:spPr>
          <a:xfrm>
            <a:off x="5760720" y="1830000"/>
            <a:ext cx="279000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>
              <a:spcAft>
                <a:spcPts val="25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15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Staggered DD is best </a:t>
            </a:r>
            <a:r>
              <a:rPr lang="en-US" sz="115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on both devices, in all 3 interleaved repeats.</a:t>
            </a:r>
          </a:p>
          <a:p>
            <a:pPr marL="171450" indent="-171450">
              <a:spcAft>
                <a:spcPts val="25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15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ibm_fez: </a:t>
            </a:r>
            <a:r>
              <a:rPr lang="en-US" sz="115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0.78 vs Qiskit 0.67, IBM Runtime 0.63, our uniform 0.67, no DD −0.05.</a:t>
            </a:r>
          </a:p>
          <a:p>
            <a:pPr marL="171450" indent="-171450">
              <a:spcAft>
                <a:spcPts val="25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15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ibm_kingston: </a:t>
            </a:r>
            <a:r>
              <a:rPr lang="en-US" sz="115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0.82 vs 0.79, 0.80, 0.79; no DD 0.28. Margin over IBM’s DD is small.</a:t>
            </a:r>
          </a:p>
          <a:p>
            <a:pPr marL="171450" indent="-171450">
              <a:spcAft>
                <a:spcPts val="25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15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Crosstalk test (fez): </a:t>
            </a:r>
            <a:r>
              <a:rPr lang="en-US" sz="115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staggered 0.82 vs uniform 0.72.</a:t>
            </a:r>
          </a:p>
          <a:p>
            <a:pPr marL="171450" indent="-171450">
              <a:spcAft>
                <a:spcPts val="25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15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Simulation: </a:t>
            </a:r>
            <a:r>
              <a:rPr lang="en-US" sz="115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mean infidelity 0.281 → 0.129 (−54%); Qiskit DD 0.142.</a:t>
            </a:r>
          </a:p>
          <a:p>
            <a:pPr marL="171450" indent="-171450">
              <a:spcAft>
                <a:spcPts val="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15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Metric: </a:t>
            </a:r>
            <a:r>
              <a:rPr lang="en-US" sz="115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mean ⟨X⟩ of 4 idle qubits, ideal = 1; error bars are standard errors.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Body text"/>
          <p:cNvSpPr txBox="1"/>
          <p:nvPr/>
        </p:nvSpPr>
        <p:spPr>
          <a:xfrm>
            <a:off x="731520" y="1874520"/>
            <a:ext cx="7772400" cy="265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Who benefits: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anyone running circuits with idle time on NISQ hardware: variational algorithms (VQE, QAOA), state preparation and circuits with mid-circuit waits.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Lower barrier: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IdleAwareDD drops into an existing Qiskit PassManager, so DD no longer needs hand-built sequences.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Fair benchmarking: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one tool that compares no DD, Qiskit DD, IBM Runtime DD and ours on the same circuits, with the raw hardware job results committed.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Useful today: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better fidelity from existing devices, with no extra qubits or hardware changes, which helps near-term chemistry and optimisation experiments reach deeper circuits.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Education and research: </a:t>
            </a: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schedule explorer shows exactly which windows get which pulses, making DD behaviour easy to teach and inspect.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Body text"/>
          <p:cNvSpPr txBox="1"/>
          <p:nvPr/>
        </p:nvSpPr>
        <p:spPr>
          <a:xfrm>
            <a:off x="731520" y="1874520"/>
            <a:ext cx="7772400" cy="265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Challenges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Free-plan QPU time limits repeats; hardware baselines drift between sessions, so we compare only within a run.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Our DD plus ZNE did not beat Runtime’s ZNE alone on ibm_marrakesh (0.74 vs 0.80), and the margin over IBM’s DD on ibm_kingston is small.</a:t>
            </a:r>
          </a:p>
          <a:p>
            <a:pPr marL="171450" indent="-171450">
              <a:spcAft>
                <a:spcPts val="5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Every spectator-circuit window was classified idle-idle, so results support the injector and staggering more than the crosstalk-idle label itself. Busy-qubit fidelity is dominated by CZ errors.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Future scope</a:t>
            </a:r>
          </a:p>
          <a:p>
            <a:pPr marL="171450" indent="-171450">
              <a:spcAft>
                <a:spcPts val="300"/>
              </a:spcAft>
              <a:buClr>
                <a:srgbClr val="7C93F0"/>
              </a:buClr>
              <a:buFont typeface="Arial"/>
              <a:buChar char="•"/>
            </a:pPr>
            <a:r>
              <a:rPr lang="en-US" sz="140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More repeats and devices; per-qubit ZZ rates read from backend calibration; richer sequences (UDD, CDD); dynamic circuits; tighter integration with Runtime resilience options.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9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github.com/vtu-qiskit-fall-fest-2026/vtu-hc-qubitcrew</a:t>
            </a:r>
          </a:p>
        </p:txBody>
      </p:sp>
      <p:sp>
        <p:nvSpPr>
          <p:cNvPr id="6" name="Field: DEMO VIDEO LINK"/>
          <p:cNvSpPr/>
          <p:nvPr/>
        </p:nvSpPr>
        <p:spPr>
          <a:xfrm>
            <a:off x="457200" y="3931920"/>
            <a:ext cx="2103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</a:t>
            </a:r>
            <a:endParaRPr lang="en-US" sz="9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[add YouTube link]</a:t>
            </a:r>
          </a:p>
        </p:txBody>
      </p:sp>
      <p:sp>
        <p:nvSpPr>
          <p:cNvPr id="30" name="Field: PROJECT SITE"/>
          <p:cNvSpPr/>
          <p:nvPr/>
        </p:nvSpPr>
        <p:spPr>
          <a:xfrm>
            <a:off x="2651760" y="3931920"/>
            <a:ext cx="2103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SITE</a:t>
            </a:r>
            <a:endParaRPr lang="en-US" sz="9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[add site link]</a:t>
            </a:r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